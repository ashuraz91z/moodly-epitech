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Pronostic de Marc</c:v>
                </c:pt>
              </c:strCache>
            </c:strRef>
          </c:tx>
          <c:spPr>
            <a:solidFill>
              <a:srgbClr val="7C3AED"/>
            </a:solidFill>
            <a:ln w="508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24/08</c:v>
                  </c:pt>
                  <c:pt idx="1">
                    <c:v>31/08</c:v>
                  </c:pt>
                  <c:pt idx="2">
                    <c:v>07/09</c:v>
                  </c:pt>
                  <c:pt idx="3">
                    <c:v>14/09</c:v>
                  </c:pt>
                  <c:pt idx="4">
                    <c:v>21/09</c:v>
                  </c:pt>
                  <c:pt idx="5">
                    <c:v>28/09</c:v>
                  </c:pt>
                  <c:pt idx="6">
                    <c:v>05/10</c:v>
                  </c:pt>
                  <c:pt idx="7">
                    <c:v>12/10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4.33</c:v>
                </c:pt>
                <c:pt idx="1">
                  <c:v>4.33</c:v>
                </c:pt>
                <c:pt idx="2">
                  <c:v>4.33</c:v>
                </c:pt>
                <c:pt idx="3">
                  <c:v>4.33</c:v>
                </c:pt>
                <c:pt idx="4">
                  <c:v>4.33</c:v>
                </c:pt>
                <c:pt idx="5">
                  <c:v>4.33</c:v>
                </c:pt>
                <c:pt idx="6">
                  <c:v>4.33</c:v>
                </c:pt>
                <c:pt idx="7">
                  <c:v>4.33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Moral réel du Support client</c:v>
                </c:pt>
              </c:strCache>
            </c:strRef>
          </c:tx>
          <c:spPr>
            <a:solidFill>
              <a:srgbClr val="E11D48"/>
            </a:solidFill>
            <a:ln w="50800" cap="flat">
              <a:solidFill>
                <a:srgbClr val="E11D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11D48"/>
              </a:solidFill>
              <a:ln w="9525" cap="flat">
                <a:solidFill>
                  <a:srgbClr val="E11D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24/08</c:v>
                  </c:pt>
                  <c:pt idx="1">
                    <c:v>31/08</c:v>
                  </c:pt>
                  <c:pt idx="2">
                    <c:v>07/09</c:v>
                  </c:pt>
                  <c:pt idx="3">
                    <c:v>14/09</c:v>
                  </c:pt>
                  <c:pt idx="4">
                    <c:v>21/09</c:v>
                  </c:pt>
                  <c:pt idx="5">
                    <c:v>28/09</c:v>
                  </c:pt>
                  <c:pt idx="6">
                    <c:v>05/10</c:v>
                  </c:pt>
                  <c:pt idx="7">
                    <c:v>12/10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3.07</c:v>
                </c:pt>
                <c:pt idx="1">
                  <c:v>3</c:v>
                </c:pt>
                <c:pt idx="2">
                  <c:v>2.9</c:v>
                </c:pt>
                <c:pt idx="3">
                  <c:v>2.87</c:v>
                </c:pt>
                <c:pt idx="4">
                  <c:v>2.77</c:v>
                </c:pt>
                <c:pt idx="5">
                  <c:v>2.7</c:v>
                </c:pt>
                <c:pt idx="6">
                  <c:v>2.67</c:v>
                </c:pt>
                <c:pt idx="7">
                  <c:v>2.52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8D88A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9525" cap="flat">
              <a:solidFill>
                <a:srgbClr val="E4E1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8D88A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57516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 s]
• Bonjour, nous sommes Dany, Lucas, Briac et Nino.
• Notre projet : Moodly, une app de suivi du moral des équipes.
• Avec une idée en plus, le Miroir. On commence par une histoire.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 s]
• Voici Thomas, manager de l'équipe Produit, huit personnes.
• Personne ne se plaint. Pour lui, l'équipe va bien : il lui donnerait 4 sur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 s]
• Sauf que son équipe, elle, se situe autour de 2,7.
• 1,3 point d'écart : c'est un angle mort. Le mal-être ne remonte pas.
• Et ce n'est pas un cas isolé : environ un salarié sur deux pense que son entreprise ignore sa détresse.
• Les outils existants mesurent le moral. Aucun ne mesure si le manager le voit.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 s]
• Notre réponse : chaque semaine, avant de voir les résultats, le manager doit dire où il pense que son équipe en est.
• Ensuite seulement, le Miroir lui montre la réalité.
• Il ne peut pas tricher : le pronostic est définitif, et rien n'est publié avant la fin de la semaine.
• Notre indicateur de succès : l'écart qui se réduit.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s] • Voyons maintenant le produit, rôle par rôle.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[45 s]
• Inès est collaboratrice. Au premier lancement, l'app lui dit exactement ce qui est enregistré, et ce que son manager verra : une moyenne, jamais sa réponse.
• Puis neuf phrases courtes sur sa semaine, construites sur les six facteurs de risques psychosociaux.
• Elle se place elle-même sur une matrice, et vote pour ce qui l'aiderait le plus. Deux minutes, le jeudi ou le vendredi.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 s]
• Une fois envoyé, Inès voit où ses réponses la situent, face à là où elle s'est placée.
• Ici, elle se voit en forme, mais ses réponses sur la charge disent autre chose.
• Point important : comme la base ne sait pas qui a répondu, cet historique reste uniquement sur son téléphone.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 s]
• Côté manager, Thomas commence par un pronostic : il place son équipe sur la même matrice que ses collaborateurs.
• Tant qu'il ne l'a pas fait, il ne voit rien. Et une fois envoyé, il ne peut plus le changer : c'est ce qui rend la comparaison honnête.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 s]
• Voici le Miroir de Thomas sur huit semaines. En pointillé son pronostic, en rouge le moral réel de l'équipe.
• Les bandes roses : les semaines où il se trompait de plus d'un point et demi.
• Il a agi sur la charge de travail, et l'écart est passé de 1,3 à 0,1 point. C'est exactement ce qu'on veut produire.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 s]
• Autre équipe : le Support client. Marc, son manager, la pense en forme, semaine après semaine.
• En réalité, elle s'enfonce. Au-delà d'1,5 point d'écart, Moodly affiche une alerte angle mort, avec le sujet le plus cité.
• Et le vote de l'équipe lui dit quoi faire : 71 % demandent d'alléger la charge. On ne s'arrête pas au constat.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 s]
• Enfin, le back-office RH. Il montre toutes les équipes : ici le Support client est signalé à surveiller.
• Mais jamais une personne. Et nous avons volontairement caché le pronostic des managers aux RH : Moodly sert à progresser, pas à évaluer.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s] • Deuxième partie : la question que tout le monde se pose, est-ce vraiment anonyme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 s]
• C'est la première question qu'on nous pose : est-ce vraiment anonyme ? Oui, pour trois raisons.
• Un : quand Inès répond, son nom n'est pas enregistré avec sa réponse. Il n'y a même pas de case pour ça.
• Deux : personne ne peut lire une réponse seule, ni son manager, ni les RH, ni nous. On ne voit que des moyennes.
• Trois : jamais sur un petit groupe. Il faut au moins cinq réponses, et on attend la fin de la semaine, sinon on pourrait deviner qui vient de répondre.
• Et ce n'est pas juste l'app qui le promet : c'est la base de données qui refuse, et on le teste automatiquement.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 s]
• Côté technique, trois briques simples.
• Une app iPhone native, faite en SwiftUI.
• Un serveur en Next.js, qui sert aussi la version web.
• Et une base de données Supabase, qui garde les réponses et applique les règles d'anonymat.
• L'app et le site passent par le même serveur : une seule logique, pas de doublon.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 s]
• Nos choix éthiques nous coûtent de l'information, et on l'assume : pas de commentaire libre, pas de classement des managers, rien pour les très petites équipes.
• Pour la suite, la priorité est de proposer des ressources d'aide quand quelqu'un répond très bas.
• Puis valider nos calculs avec un professionnel, et enfin Android et les messageries d'entreprise.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 s]
• Pour conclure : Moodly ne promet pas l'anonymat, il le démontre.
• Et il ne suppose pas que le manager voit juste : il le mesure.
• Merci. On passe à la démo en direct, puis à vos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de réserve, à ouvrir seulement si une question porte dessus.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cadrage initial prévoyait Expo avec un accès direct à Supabase ; nous avons basculé vers SwiftUI et une API Next.js.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les questions sur le déploiement réel ou la conformité.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LEIN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PARTIE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SOMBR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EI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TI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Moodly · Le Miroir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9BD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8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Moodly · Le Miroir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Moodly · Le Miroir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9BD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9BD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Epitech · Octobre 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Moodly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i="1" dirty="0">
                <a:solidFill>
                  <a:srgbClr val="DDD6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Miroir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9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Rendre visible ce que le management ne voit pas.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Dany Ferreira · Lucas Fernandes · Briac Dassier · Nino Taravella</a:t>
            </a:r>
            <a:endParaRPr lang="en-US" sz="1300" dirty="0"/>
          </a:p>
        </p:txBody>
      </p:sp>
      <p:pic>
        <p:nvPicPr>
          <p:cNvPr id="8" name="Image 0" descr="m_miroir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14838"/>
            <a:ext cx="4983480" cy="3628323"/>
          </a:xfrm>
          <a:prstGeom prst="rect">
            <a:avLst/>
          </a:prstGeom>
          <a:effectLst>
            <a:outerShdw sx="100000" sy="100000" kx="0" ky="0" algn="bl" rotWithShape="0" blurRad="203200" dist="76200" dir="5400000">
              <a:srgbClr val="2E1065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Thomas manage huit personnes. Il pense que tout va bien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i="1" dirty="0">
                <a:solidFill>
                  <a:srgbClr val="2E1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Personne ne se plaint,</a:t>
            </a:r>
            <a:endParaRPr lang="en-US" sz="4000" dirty="0"/>
          </a:p>
          <a:p>
            <a:pPr indent="0" marL="0">
              <a:buNone/>
            </a:pPr>
            <a:r>
              <a:rPr lang="en-US" sz="4000" i="1" dirty="0">
                <a:solidFill>
                  <a:srgbClr val="2E1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donc l'équipe va bien. »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617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on lui demande de noter le moral de son équipe 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38160" y="1828800"/>
            <a:ext cx="3291840" cy="3291840"/>
          </a:xfrm>
          <a:prstGeom prst="ellipse">
            <a:avLst/>
          </a:prstGeom>
          <a:solidFill>
            <a:srgbClr val="F3EE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38160" y="23317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5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réalité, son équipe est à 2,7. Et il ne le sait pas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F3EE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PENSE THOMAS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6517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5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0" y="18745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FFF1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VIT L'ÉQUIPE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6517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2,7</a:t>
            </a:r>
            <a:endParaRPr lang="en-US" sz="11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5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2194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 pt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d'écart : un angle mort.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problème, à l'échelle du pays : environ 1 salarié sur 2 pense que son entreprise ignore sa détresse.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5440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D8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Chiffres ORSE présentés au lancement du projet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idée : le manager pronostique avant de voir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2468880" cy="3246120"/>
          </a:xfrm>
          <a:prstGeom prst="roundRect">
            <a:avLst>
              <a:gd name="adj" fmla="val 5185"/>
            </a:avLst>
          </a:prstGeom>
          <a:solidFill>
            <a:srgbClr val="F7F6FA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tim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688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429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L'équipe répond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297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 par semaine,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163824" y="3584448"/>
            <a:ext cx="228600" cy="0"/>
          </a:xfrm>
          <a:prstGeom prst="line">
            <a:avLst/>
          </a:prstGeom>
          <a:noFill/>
          <a:ln w="19050">
            <a:solidFill>
              <a:srgbClr val="8D88A1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47288" y="1965960"/>
            <a:ext cx="2468880" cy="3246120"/>
          </a:xfrm>
          <a:prstGeom prst="roundRect">
            <a:avLst>
              <a:gd name="adj" fmla="val 5185"/>
            </a:avLst>
          </a:prstGeom>
          <a:solidFill>
            <a:srgbClr val="F7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3767328" y="22860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24688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67328" y="3429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manager pronostique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3767328" y="4297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place son équipe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rien voir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971032" y="3584448"/>
            <a:ext cx="228600" cy="0"/>
          </a:xfrm>
          <a:prstGeom prst="line">
            <a:avLst/>
          </a:prstGeom>
          <a:noFill/>
          <a:ln w="19050">
            <a:solidFill>
              <a:srgbClr val="8D88A1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254496" y="1965960"/>
            <a:ext cx="2468880" cy="3246120"/>
          </a:xfrm>
          <a:prstGeom prst="roundRect">
            <a:avLst>
              <a:gd name="adj" fmla="val 5185"/>
            </a:avLst>
          </a:prstGeom>
          <a:solidFill>
            <a:srgbClr val="2E1065"/>
          </a:solidFill>
          <a:ln/>
        </p:spPr>
      </p:sp>
      <p:sp>
        <p:nvSpPr>
          <p:cNvPr id="16" name="Shape 12"/>
          <p:cNvSpPr/>
          <p:nvPr/>
        </p:nvSpPr>
        <p:spPr>
          <a:xfrm>
            <a:off x="6574536" y="2286000"/>
            <a:ext cx="868680" cy="86868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17" name="Image 2" descr="eyeoff_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24688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74536" y="3429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Miroir révèle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6574536" y="4297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réalité face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9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son pronostic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8778240" y="3584448"/>
            <a:ext cx="228600" cy="0"/>
          </a:xfrm>
          <a:prstGeom prst="line">
            <a:avLst/>
          </a:prstGeom>
          <a:noFill/>
          <a:ln w="19050">
            <a:solidFill>
              <a:srgbClr val="8D88A1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9061704" y="1965960"/>
            <a:ext cx="2468880" cy="3246120"/>
          </a:xfrm>
          <a:prstGeom prst="roundRect">
            <a:avLst>
              <a:gd name="adj" fmla="val 5185"/>
            </a:avLst>
          </a:prstGeom>
          <a:solidFill>
            <a:srgbClr val="F7F6FA"/>
          </a:solidFill>
          <a:ln/>
        </p:spPr>
      </p:sp>
      <p:sp>
        <p:nvSpPr>
          <p:cNvPr id="22" name="Shape 17"/>
          <p:cNvSpPr/>
          <p:nvPr/>
        </p:nvSpPr>
        <p:spPr>
          <a:xfrm>
            <a:off x="9381744" y="22860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246888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81744" y="3429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L'écart se réduit</a:t>
            </a:r>
            <a:endParaRPr lang="en-US" sz="2100" dirty="0"/>
          </a:p>
        </p:txBody>
      </p:sp>
      <p:sp>
        <p:nvSpPr>
          <p:cNvPr id="25" name="Text 19"/>
          <p:cNvSpPr txBox="1"/>
          <p:nvPr/>
        </p:nvSpPr>
        <p:spPr>
          <a:xfrm>
            <a:off x="9381744" y="4297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apprend à lire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équipe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55321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pronostic est définitif, et les résultats n'arrivent qu'une fois la semaine close.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37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produit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rôles : collaborateur, manager, RH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9BD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Inès répond en deux minutes, sans risque d'être reconnue</a:t>
            </a:r>
            <a:endParaRPr lang="en-US" sz="3400" dirty="0"/>
          </a:p>
        </p:txBody>
      </p:sp>
      <p:pic>
        <p:nvPicPr>
          <p:cNvPr id="3" name="Image 0" descr="c_onboar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2112654" cy="4572000"/>
          </a:xfrm>
          <a:prstGeom prst="rect">
            <a:avLst/>
          </a:prstGeom>
          <a:effectLst>
            <a:outerShdw sx="100000" sy="100000" kx="0" ky="0" algn="bl" rotWithShape="0" blurRad="203200" dist="76200" dir="5400000">
              <a:srgbClr val="2E1065">
                <a:alpha val="25000"/>
              </a:srgbClr>
            </a:outerShdw>
          </a:effectLst>
        </p:spPr>
      </p:pic>
      <p:pic>
        <p:nvPicPr>
          <p:cNvPr id="4" name="Image 1" descr="c_question_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00200"/>
            <a:ext cx="2112654" cy="4572000"/>
          </a:xfrm>
          <a:prstGeom prst="rect">
            <a:avLst/>
          </a:prstGeom>
          <a:effectLst>
            <a:outerShdw sx="100000" sy="100000" kx="0" ky="0" algn="bl" rotWithShape="0" blurRad="203200" dist="76200" dir="5400000">
              <a:srgbClr val="2E1065">
                <a:alpha val="25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6858000" y="1874520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8580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7589520" y="1856232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est stocké lui est expliqué dès le premier écran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6858000" y="3246120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8580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589520" y="3227832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questions, une par écran, sur les 6 facteurs de risques psychosociaux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858000" y="4617720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85800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4599432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 se place sur une matrice plaisir × énergie et vote pour ce qui l'aiderait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Elle voit tout de suite ce que disent ses réponses</a:t>
            </a:r>
            <a:endParaRPr lang="en-US" sz="3400" dirty="0"/>
          </a:p>
        </p:txBody>
      </p:sp>
      <p:pic>
        <p:nvPicPr>
          <p:cNvPr id="3" name="Image 0" descr="c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2909987" cy="4663440"/>
          </a:xfrm>
          <a:prstGeom prst="rect">
            <a:avLst/>
          </a:prstGeom>
          <a:effectLst>
            <a:outerShdw sx="100000" sy="100000" kx="0" ky="0" algn="bl" rotWithShape="0" blurRad="203200" dist="76200" dir="5400000">
              <a:srgbClr val="2E1065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4572000" y="1828800"/>
            <a:ext cx="6979615" cy="1737360"/>
          </a:xfrm>
          <a:prstGeom prst="roundRect">
            <a:avLst>
              <a:gd name="adj" fmla="val 7368"/>
            </a:avLst>
          </a:prstGeom>
          <a:solidFill>
            <a:srgbClr val="F7F6F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937760" y="2103120"/>
            <a:ext cx="6248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2E1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Tu t'attribues plus d'énergie que ce que disent tes réponses. »</a:t>
            </a:r>
            <a:endParaRPr lang="en-US" sz="2400" dirty="0"/>
          </a:p>
        </p:txBody>
      </p:sp>
      <p:pic>
        <p:nvPicPr>
          <p:cNvPr id="6" name="Image 1" descr="phone_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9776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49240" y="3977640"/>
            <a:ext cx="6202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Cette comparaison ne quitte jamais son téléphone.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349240" y="4480560"/>
            <a:ext cx="6202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ne sait pas qui a répondu quoi : elle ne pourrait pas la lui renvoyer. Nous avons fait de cette contrainte une fonctionnalité, « Mon parcours 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Thomas doit placer son équipe avant de voir quoi que ce soit</a:t>
            </a:r>
            <a:endParaRPr lang="en-US" sz="3400" dirty="0"/>
          </a:p>
        </p:txBody>
      </p:sp>
      <p:pic>
        <p:nvPicPr>
          <p:cNvPr id="3" name="Image 0" descr="m_prono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465618" cy="4480560"/>
          </a:xfrm>
          <a:prstGeom prst="rect">
            <a:avLst/>
          </a:prstGeom>
          <a:effectLst>
            <a:outerShdw sx="100000" sy="100000" kx="0" ky="0" algn="bl" rotWithShape="0" blurRad="203200" dist="76200" dir="5400000">
              <a:srgbClr val="2E1065">
                <a:alpha val="25000"/>
              </a:srgbClr>
            </a:outerShdw>
          </a:effectLst>
        </p:spPr>
      </p:pic>
      <p:pic>
        <p:nvPicPr>
          <p:cNvPr id="4" name="Image 1" descr="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98" y="1828800"/>
            <a:ext cx="640080" cy="640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562898" y="2697480"/>
            <a:ext cx="398871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reste verrouillé tant qu'il ne s'est pas prononcé.</a:t>
            </a:r>
            <a:endParaRPr lang="en-US" sz="1900" dirty="0"/>
          </a:p>
        </p:txBody>
      </p:sp>
      <p:sp>
        <p:nvSpPr>
          <p:cNvPr id="6" name="Text 2"/>
          <p:cNvSpPr txBox="1"/>
          <p:nvPr/>
        </p:nvSpPr>
        <p:spPr>
          <a:xfrm>
            <a:off x="7562898" y="3977640"/>
            <a:ext cx="398871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pronostic ne pourra plus être modifié : la base le refuse.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Miroir lui montre ses angles morts, semaine après semaine</a:t>
            </a:r>
            <a:endParaRPr lang="en-US" sz="3400" dirty="0"/>
          </a:p>
        </p:txBody>
      </p:sp>
      <p:pic>
        <p:nvPicPr>
          <p:cNvPr id="3" name="Image 0" descr="m_miroir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342411" cy="4617720"/>
          </a:xfrm>
          <a:prstGeom prst="rect">
            <a:avLst/>
          </a:prstGeom>
          <a:effectLst>
            <a:outerShdw sx="100000" sy="100000" kx="0" ky="0" algn="bl" rotWithShape="0" blurRad="203200" dist="76200" dir="5400000">
              <a:srgbClr val="2E1065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7439691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857011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8D8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9405651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0,1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439691" y="2651760"/>
            <a:ext cx="4111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d'écart en huit semaines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39691" y="3474720"/>
            <a:ext cx="411192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bandes roses marquent les semaines où Thomas se trompait. Il a agi sur la charge de travail : l'écart s'est refermé.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439691" y="5623560"/>
            <a:ext cx="41119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D8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de démonstration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 l'écart dépasse 1,5 point, Moodly alerte et dit où agir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002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783080"/>
            <a:ext cx="594360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006840" y="1828800"/>
            <a:ext cx="2544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Angle mort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8229600" y="2606040"/>
            <a:ext cx="3322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 pt d'écart, sujet dominant : la charge de travail.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229600" y="3657600"/>
            <a:ext cx="3322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71 %</a:t>
            </a:r>
            <a:endParaRPr lang="en-US" sz="60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617720"/>
            <a:ext cx="3322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l'équipe vote « alléger la charge ».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5623560"/>
            <a:ext cx="3322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D8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de démonstration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RH voient les équipes, jamais les personnes</a:t>
            </a:r>
            <a:endParaRPr lang="en-US" sz="3400" dirty="0"/>
          </a:p>
        </p:txBody>
      </p:sp>
      <p:pic>
        <p:nvPicPr>
          <p:cNvPr id="3" name="Image 0" descr="r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4855464" cy="4526280"/>
          </a:xfrm>
          <a:prstGeom prst="rect">
            <a:avLst/>
          </a:prstGeom>
          <a:effectLst>
            <a:outerShdw sx="100000" sy="100000" kx="0" ky="0" algn="bl" rotWithShape="0" blurRad="203200" dist="76200" dir="5400000">
              <a:srgbClr val="2E1065">
                <a:alpha val="25000"/>
              </a:srgbClr>
            </a:outerShdw>
          </a:effectLst>
        </p:spPr>
      </p:pic>
      <p:pic>
        <p:nvPicPr>
          <p:cNvPr id="4" name="Image 1" descr="users_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4" y="1828800"/>
            <a:ext cx="548640" cy="5486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998464" y="2560320"/>
            <a:ext cx="55531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Participation, moral et matrice de l'entreprise, une équipe par point.</a:t>
            </a:r>
            <a:endParaRPr lang="en-US" sz="1800" dirty="0"/>
          </a:p>
        </p:txBody>
      </p:sp>
      <p:pic>
        <p:nvPicPr>
          <p:cNvPr id="6" name="Image 2" descr="eyeof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3840480"/>
            <a:ext cx="548640" cy="548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998464" y="4572000"/>
            <a:ext cx="55531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Jamais une personne, ni le pronostic des managers : sinon ils cesseraient de pronostiquer honnêtement.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37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Anonyme, vraiment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personne ne peut savoir qui a répondu quoi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9BD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C'est anonyme. Et voici pourquoi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3393338" cy="3566160"/>
          </a:xfrm>
          <a:prstGeom prst="roundRect">
            <a:avLst>
              <a:gd name="adj" fmla="val 3773"/>
            </a:avLst>
          </a:prstGeom>
          <a:solidFill>
            <a:srgbClr val="F7F6FA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21488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user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3774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3383280"/>
            <a:ext cx="25703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ne sait pas qui répond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4297680"/>
            <a:ext cx="25703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réponse est enregistrée sans le nom de la personne. Il n'y a tout simplement pas de case pour ça.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99178" y="1783080"/>
            <a:ext cx="3393338" cy="3566160"/>
          </a:xfrm>
          <a:prstGeom prst="roundRect">
            <a:avLst>
              <a:gd name="adj" fmla="val 3773"/>
            </a:avLst>
          </a:prstGeom>
          <a:solidFill>
            <a:srgbClr val="F7F6FA"/>
          </a:solidFill>
          <a:ln/>
        </p:spPr>
      </p:sp>
      <p:sp>
        <p:nvSpPr>
          <p:cNvPr id="9" name="Shape 6"/>
          <p:cNvSpPr/>
          <p:nvPr/>
        </p:nvSpPr>
        <p:spPr>
          <a:xfrm>
            <a:off x="4810658" y="21488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eyeof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258" y="23774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10658" y="3383280"/>
            <a:ext cx="25703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Personne ne lit une réponse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810658" y="4297680"/>
            <a:ext cx="25703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le manager, ni les RH, ni même nous. On ne voit que des moyennes d'équipe.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158277" y="1783080"/>
            <a:ext cx="3393338" cy="3566160"/>
          </a:xfrm>
          <a:prstGeom prst="roundRect">
            <a:avLst>
              <a:gd name="adj" fmla="val 3773"/>
            </a:avLst>
          </a:prstGeom>
          <a:solidFill>
            <a:srgbClr val="F7F6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569757" y="21488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8357" y="23774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69757" y="3383280"/>
            <a:ext cx="25703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Jamais sur un petit groupe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69757" y="4297680"/>
            <a:ext cx="25703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faut au moins 5 réponses, et on attend la fin de la semaine. Impossible de deviner qui a dit quoi.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40080" y="5532120"/>
            <a:ext cx="10911535" cy="548640"/>
          </a:xfrm>
          <a:prstGeom prst="roundRect">
            <a:avLst>
              <a:gd name="adj" fmla="val 23333"/>
            </a:avLst>
          </a:prstGeom>
          <a:solidFill>
            <a:srgbClr val="2E106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60120" y="553212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la base de données qui refuse, pas juste l'app qui promet. Et c'est testé automatiquement.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architecture simple, par choix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154680" cy="3474720"/>
          </a:xfrm>
          <a:prstGeom prst="roundRect">
            <a:avLst>
              <a:gd name="adj" fmla="val 4058"/>
            </a:avLst>
          </a:prstGeom>
          <a:solidFill>
            <a:srgbClr val="F7F6FA"/>
          </a:solidFill>
          <a:ln/>
        </p:spPr>
      </p:sp>
      <p:pic>
        <p:nvPicPr>
          <p:cNvPr id="4" name="Image 0" descr="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IPHONE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SwiftUI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43159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vraie app native, rapide, pour les trois rôles.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867912" y="3566160"/>
            <a:ext cx="402336" cy="0"/>
          </a:xfrm>
          <a:prstGeom prst="line">
            <a:avLst/>
          </a:prstGeom>
          <a:noFill/>
          <a:ln w="19050">
            <a:solidFill>
              <a:srgbClr val="8D88A1"/>
            </a:solidFill>
            <a:prstDash val="solid"/>
            <a:headEnd type="triangl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343400" y="1828800"/>
            <a:ext cx="3154680" cy="3474720"/>
          </a:xfrm>
          <a:prstGeom prst="roundRect">
            <a:avLst>
              <a:gd name="adj" fmla="val 4058"/>
            </a:avLst>
          </a:prstGeom>
          <a:solidFill>
            <a:srgbClr val="F7F6FA"/>
          </a:solidFill>
          <a:ln/>
        </p:spPr>
      </p:sp>
      <p:pic>
        <p:nvPicPr>
          <p:cNvPr id="10" name="Image 1" descr="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5488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43159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 le lien entre l'app, le site web et la base.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571232" y="3566160"/>
            <a:ext cx="402336" cy="0"/>
          </a:xfrm>
          <a:prstGeom prst="line">
            <a:avLst/>
          </a:prstGeom>
          <a:noFill/>
          <a:ln w="19050">
            <a:solidFill>
              <a:srgbClr val="8D88A1"/>
            </a:solidFill>
            <a:prstDash val="solid"/>
            <a:headEnd type="triangl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046720" y="1828800"/>
            <a:ext cx="3154680" cy="3474720"/>
          </a:xfrm>
          <a:prstGeom prst="roundRect">
            <a:avLst>
              <a:gd name="adj" fmla="val 4058"/>
            </a:avLst>
          </a:prstGeom>
          <a:solidFill>
            <a:srgbClr val="2E1065"/>
          </a:solidFill>
          <a:ln/>
        </p:spPr>
      </p:sp>
      <p:pic>
        <p:nvPicPr>
          <p:cNvPr id="16" name="Image 2" descr="db_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945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43159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 les réponses et refuse toute lecture individuelle.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55778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L'app iPhone et le site web utilisent exactement le même serveur : une seule logique à maintenir.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nous avons refusé, et ce qui vient ensuite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REFUS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120640" cy="822960"/>
          </a:xfrm>
          <a:prstGeom prst="roundRect">
            <a:avLst>
              <a:gd name="adj" fmla="val 15556"/>
            </a:avLst>
          </a:prstGeom>
          <a:solidFill>
            <a:srgbClr val="F7F6FA"/>
          </a:solidFill>
          <a:ln/>
        </p:spPr>
      </p:sp>
      <p:pic>
        <p:nvPicPr>
          <p:cNvPr id="5" name="Image 0" descr="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68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2514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commentaire libre : l'écriture trahit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3337560"/>
            <a:ext cx="5120640" cy="822960"/>
          </a:xfrm>
          <a:prstGeom prst="roundRect">
            <a:avLst>
              <a:gd name="adj" fmla="val 15556"/>
            </a:avLst>
          </a:prstGeom>
          <a:solidFill>
            <a:srgbClr val="F7F6FA"/>
          </a:solidFill>
          <a:ln/>
        </p:spPr>
      </p:sp>
      <p:pic>
        <p:nvPicPr>
          <p:cNvPr id="8" name="Image 1" descr="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204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3566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classement des managers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40080" y="4389120"/>
            <a:ext cx="5120640" cy="822960"/>
          </a:xfrm>
          <a:prstGeom prst="roundRect">
            <a:avLst>
              <a:gd name="adj" fmla="val 15556"/>
            </a:avLst>
          </a:prstGeom>
          <a:solidFill>
            <a:srgbClr val="F7F6FA"/>
          </a:solidFill>
          <a:ln/>
        </p:spPr>
      </p:sp>
      <p:pic>
        <p:nvPicPr>
          <p:cNvPr id="11" name="Image 2" descr="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720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08760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 d'affiché sous 5 personnes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1783080"/>
            <a:ext cx="5150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SUITE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0" y="2286000"/>
            <a:ext cx="5150815" cy="822960"/>
          </a:xfrm>
          <a:prstGeom prst="roundRect">
            <a:avLst>
              <a:gd name="adj" fmla="val 15556"/>
            </a:avLst>
          </a:prstGeom>
          <a:solidFill>
            <a:srgbClr val="F3EEFF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675120" y="2514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7543800" y="251460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d'aide après une réponse très basse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400800" y="3337560"/>
            <a:ext cx="5150815" cy="822960"/>
          </a:xfrm>
          <a:prstGeom prst="roundRect">
            <a:avLst>
              <a:gd name="adj" fmla="val 15556"/>
            </a:avLst>
          </a:prstGeom>
          <a:solidFill>
            <a:srgbClr val="F7F6FA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675120" y="3566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7543800" y="356616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nos calculs avec un psychologue du travail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400800" y="4389120"/>
            <a:ext cx="5150815" cy="822960"/>
          </a:xfrm>
          <a:prstGeom prst="roundRect">
            <a:avLst>
              <a:gd name="adj" fmla="val 15556"/>
            </a:avLst>
          </a:prstGeom>
          <a:solidFill>
            <a:srgbClr val="F7F6F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675120" y="4617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7543800" y="461772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Android, Slack et Teams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Moodly ne promet pas l'anonymat :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rgbClr val="DDD6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le démontre.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ne suppose pas que le manager voit juste :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51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rgbClr val="DDD6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le mesure.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· Démo en direct et questions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50815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Dany Ferreira · Lucas Fernandes · Briac Dassier · Nino Taravella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37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Annexes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répondre aux questions du jury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9BD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Annexe · Quatre choix et leur coût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2522144" cy="4114800"/>
          </a:xfrm>
          <a:prstGeom prst="roundRect">
            <a:avLst>
              <a:gd name="adj" fmla="val 5076"/>
            </a:avLst>
          </a:prstGeom>
          <a:solidFill>
            <a:srgbClr val="F7F6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21031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SwiftUI natif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383280"/>
            <a:ext cx="1973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dépendance, frameworks Apple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800600"/>
            <a:ext cx="1973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d'Android pour l'instant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36544" y="1783080"/>
            <a:ext cx="2522144" cy="4114800"/>
          </a:xfrm>
          <a:prstGeom prst="roundRect">
            <a:avLst>
              <a:gd name="adj" fmla="val 5076"/>
            </a:avLst>
          </a:prstGeom>
          <a:solidFill>
            <a:srgbClr val="F7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56584" y="21031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Next.js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3756584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56584" y="3383280"/>
            <a:ext cx="1973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contrat pour iOS et web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56584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56584" y="4800600"/>
            <a:ext cx="1973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serveur Node à héberger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33008" y="1783080"/>
            <a:ext cx="2522144" cy="4114800"/>
          </a:xfrm>
          <a:prstGeom prst="roundRect">
            <a:avLst>
              <a:gd name="adj" fmla="val 5076"/>
            </a:avLst>
          </a:prstGeom>
          <a:solidFill>
            <a:srgbClr val="F7F6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53048" y="21031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Règles dans la base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3383280"/>
            <a:ext cx="1973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L'anonymat tient même si l'app a un bug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53048" y="4800600"/>
            <a:ext cx="1973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long à écrire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29471" y="1783080"/>
            <a:ext cx="2522144" cy="4114800"/>
          </a:xfrm>
          <a:prstGeom prst="roundRect">
            <a:avLst>
              <a:gd name="adj" fmla="val 5076"/>
            </a:avLst>
          </a:prstGeom>
          <a:solidFill>
            <a:srgbClr val="F7F6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49511" y="21031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Seuil de 5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9349511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349511" y="3383280"/>
            <a:ext cx="1973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déduction par soustraction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349511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349511" y="4800600"/>
            <a:ext cx="1973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 sous 5 personnes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Annexe · Déploiement, santé et RGPD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2E106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3591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 : 2 ou 3 équipes, 6 semaines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2E106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2278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: anonymat expliqué, FAQ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2E106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0965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Accompagner les managers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2E106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651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Bilan, puis généralisation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83080"/>
            <a:ext cx="5150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SANTÉ ET RGPD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286000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vue individuelle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Sollicitation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154680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réponse, un rappel par semaine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Anxiété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023360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formulations neutres, vote « ça va »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892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892040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5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moral traité comme donnée de santé ; analyse d'impact avant production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88A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Moodly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Moodly · Le Miroir</dc:title>
  <dc:subject>PptxGenJS Presentation</dc:subject>
  <dc:creator>Dany Ferreira, Lucas Fernandes, Briac Dassier, Nino Taravella</dc:creator>
  <cp:lastModifiedBy>Dany Ferreira, Lucas Fernandes, Briac Dassier, Nino Taravella</cp:lastModifiedBy>
  <cp:revision>1</cp:revision>
  <dcterms:created xsi:type="dcterms:W3CDTF">2026-10-23T14:32:12Z</dcterms:created>
  <dcterms:modified xsi:type="dcterms:W3CDTF">2026-10-23T14:32:12Z</dcterms:modified>
</cp:coreProperties>
</file>